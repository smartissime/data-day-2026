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F1021-F882-41CB-AACB-35983D6A29C9}" v="3" dt="2026-07-28T13:31:12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8T13:33:52.860" v="146" actId="14100"/>
      <pc:docMkLst>
        <pc:docMk/>
      </pc:docMkLst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3.694" v="118" actId="276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3.680" v="115" actId="27636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1:44.235" v="142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13:31:44.235" v="142" actId="27636"/>
          <ac:spMkLst>
            <pc:docMk/>
            <pc:sldMk cId="0" sldId="263"/>
            <ac:spMk id="4" creationId="{00000000-0000-0000-0000-000000000000}"/>
          </ac:spMkLst>
        </pc:spChg>
      </pc:sldChg>
      <pc:sldMasterChg chg="addSp delSp modSp mod">
        <pc:chgData name="Rodrigue YENGO" userId="9019d928-c12d-48de-bdb2-52a833805ac2" providerId="ADAL" clId="{20734E0D-FF75-44B1-9DFF-D19DBB4D069A}" dt="2026-07-28T13:33:52.860" v="146" actId="14100"/>
        <pc:sldMasterMkLst>
          <pc:docMk/>
          <pc:sldMasterMk cId="0" sldId="2147483648"/>
        </pc:sldMasterMkLst>
        <pc:spChg chg="add del">
          <ac:chgData name="Rodrigue YENGO" userId="9019d928-c12d-48de-bdb2-52a833805ac2" providerId="ADAL" clId="{20734E0D-FF75-44B1-9DFF-D19DBB4D069A}" dt="2026-07-28T13:32:13.493" v="144" actId="22"/>
          <ac:spMkLst>
            <pc:docMk/>
            <pc:sldMasterMk cId="0" sldId="2147483648"/>
            <ac:spMk id="5" creationId="{60D89672-FBB5-E3A8-AFD3-E2602FA9B229}"/>
          </ac:spMkLst>
        </pc:spChg>
        <pc:picChg chg="add del mod">
          <ac:chgData name="Rodrigue YENGO" userId="9019d928-c12d-48de-bdb2-52a833805ac2" providerId="ADAL" clId="{20734E0D-FF75-44B1-9DFF-D19DBB4D069A}" dt="2026-07-28T13:31:43.601" v="101" actId="22"/>
          <ac:picMkLst>
            <pc:docMk/>
            <pc:sldMasterMk cId="0" sldId="2147483648"/>
            <ac:picMk id="3" creationId="{1F9D60CC-A29A-53C1-BDF6-E061670A8B52}"/>
          </ac:picMkLst>
        </pc:picChg>
        <pc:picChg chg="add mod">
          <ac:chgData name="Rodrigue YENGO" userId="9019d928-c12d-48de-bdb2-52a833805ac2" providerId="ADAL" clId="{20734E0D-FF75-44B1-9DFF-D19DBB4D069A}" dt="2026-07-28T13:33:52.860" v="146" actId="14100"/>
          <ac:picMkLst>
            <pc:docMk/>
            <pc:sldMasterMk cId="0" sldId="2147483648"/>
            <ac:picMk id="7" creationId="{C9A920E7-E3E8-E0F7-3BDB-D8174FB00FBD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26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le parcours DP-800 : on pose les fondations du fil rouge AdventureWorks Commerce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minutage de la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Repère examen : le choix se justifie toujours par un besoin métier (SLA, volumétrie, budget), jamais par défaut. Le fil rouge tournera sur SQL Server 2025 pour les types VECTOR du Jour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en direct : séquence, colonne JSON avec ISJSON, table temporelle.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1 minute de réflexion avant de révéler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programmabilité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9A920E7-E3E8-E0F7-3BDB-D8174FB00F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76430" y="194733"/>
            <a:ext cx="1851269" cy="123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372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1 · 09:00 – 10:45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Objets de base de données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bonne plateforme SQL, puis concevoir les tables, index et contraintes d'AdventureWorks Commerce Cloud.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99362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 · Développer des solutions de base de données compatibles avec l'IA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671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session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198968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285083" y="3649414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85083" y="3330327"/>
            <a:ext cx="1286982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285083" y="4195911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85083" y="3830389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plateforme SQL adaptée au besoin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285083" y="4742408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85083" y="4376886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types de données et index spécialisés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85083" y="5288905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285083" y="4923383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: étendre le schéma fil rouge en direct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5298430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43000" y="5835402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43000" y="5469880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3285083" y="5835402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285083" y="5469880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 et résumé</a:t>
            </a:r>
            <a:endParaRPr lang="en-US" sz="2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119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sa plateforme SQL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5156150" cy="2281089"/>
          </a:xfrm>
          <a:prstGeom prst="roundRect">
            <a:avLst>
              <a:gd name="adj" fmla="val 3341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Database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474181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managé, SLA 99,99 %. Hyperscale pour la mise à l'échelle quasi illimitée, Serverless pour la pause automatique.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65850" y="3248918"/>
            <a:ext cx="5156150" cy="2281089"/>
          </a:xfrm>
          <a:prstGeom prst="roundRect">
            <a:avLst>
              <a:gd name="adj" fmla="val 3341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4207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2025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42075" y="3935760"/>
            <a:ext cx="474181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total sur site ou en VM. Nouveau : type VECTOR natif et AI_GENERATE_EMBEDDINGS intégrés au moteur.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88701" y="3248918"/>
            <a:ext cx="5156150" cy="2281089"/>
          </a:xfrm>
          <a:prstGeom prst="roundRect">
            <a:avLst>
              <a:gd name="adj" fmla="val 3341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264926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64926" y="3935760"/>
            <a:ext cx="474181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au sein du lakehouse — quand BI et transactionnel doivent cohabiter, gouvernance et OneLake partagés.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0195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&amp; INDEX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données, index et tables spécialisés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cluster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par table, ordonne physiquement les données. Idéal pour les requêtes par plage sur une clé d'identité ou de date.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non cluster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possibles. La clause INCLUDE ajoute des colonnes en feuille pour couvrir une requête sans lookup.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5050780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mémoire / Temporel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5385941"/>
            <a:ext cx="7377684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mémoire : sans verrouillage, très haut débit. Temporel : historique automatique, interrogeable avec FOR SYSTEM_TIME AS OF.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5050780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/ Graph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5385941"/>
            <a:ext cx="7377684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: lecture directe d'un lac de données. Graph : tables NODE/EDGE pour les relations complexes (recommandations).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2978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· FIL ROUGE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Étendre le schéma AdventureWorks Commerce Cloud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OrderNumberSeq pour un numéro de commande métier lisible.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 JSON Customer.Preferences avec contrainte ISJSON.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temporelle CustomerProfileHistory (SYSTEM_VERSIONING).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236815"/>
            <a:ext cx="14859000" cy="2481263"/>
          </a:xfrm>
          <a:prstGeom prst="roundRect">
            <a:avLst>
              <a:gd name="adj" fmla="val 3071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427315"/>
            <a:ext cx="14809470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SalesLT.CustomerProfileHistory (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 INT NOT NULL,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EmailAddress NVARCHAR(50),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ValidFrom DATETIME2 GENERATED ALWAYS AS ROW START,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ValidTo   DATETIME2 GENERATED ALWAYS AS ROW END,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 FOR SYSTEM_TIME (ValidFrom, ValidTo)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WITH (SYSTEM_VERSIONING = ON);</a:t>
            </a:r>
            <a:endParaRPr lang="en-US" sz="157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devez conserver l'historique complet des changements de profil client, avec une requête « à une date donnée ». Quel objet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déclencheur qui copie les anciennes valeurs dans une table d'audit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table temporelle avec SYSTEM_VERSIONING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Data Capture (CDC) sur la table Customer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colonne JSON contenant l'historique</a:t>
            </a:r>
            <a:endParaRPr lang="en-US" sz="1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plateforme selon l'élasticité et le SLA attendus.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pour les plages, non cluster + INCLUDE pour couvrir une requête.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temporelle = historisation automatique sans trigger.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et partitionnement : flexibilité et volumétrie sans changer de moteur.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384661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514255"/>
            <a:ext cx="5943689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Programmabilité 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259139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Vues, fonctions, procédures stockées et déclencheurs : encapsuler la logique métier du fil rouge.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DEB156-3EF4-48F8-9E38-04770E6CA2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5AE6CD-266F-4506-9484-5C19F817C7DE}">
  <ds:schemaRefs>
    <ds:schemaRef ds:uri="http://purl.org/dc/dcmitype/"/>
    <ds:schemaRef ds:uri="d9df9240-fc95-4deb-9c9d-de700c44a7a7"/>
    <ds:schemaRef ds:uri="http://schemas.microsoft.com/office/infopath/2007/PartnerControls"/>
    <ds:schemaRef ds:uri="http://purl.org/dc/terms/"/>
    <ds:schemaRef ds:uri="http://schemas.microsoft.com/office/2006/documentManagement/types"/>
    <ds:schemaRef ds:uri="33363a87-7e43-46da-9332-4c6d176b06e4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9E49AC9-BBE0-4EBE-A36A-A7CB7AF59BA4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611</Words>
  <Application>Microsoft Office PowerPoint</Application>
  <PresentationFormat>Personnalisé</PresentationFormat>
  <Paragraphs>78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Objets de base de données</dc:title>
  <dc:subject>PptxGenJS Presentation</dc:subject>
  <dc:creator/>
  <cp:lastModifiedBy>Rodrigue YENGO</cp:lastModifiedBy>
  <cp:revision>1</cp:revision>
  <dcterms:created xsi:type="dcterms:W3CDTF">2026-07-28T13:23:00Z</dcterms:created>
  <dcterms:modified xsi:type="dcterms:W3CDTF">2026-07-28T13:33:55Z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