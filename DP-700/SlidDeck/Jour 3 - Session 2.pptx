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E4A65-4BCE-4F75-98F5-753D6D918401}" v="2" dt="2026-07-28T08:20:31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8:38.187" v="43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20:29.649" v="4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20:29.643" v="1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649" v="4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646" v="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648" v="3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638" v="0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05" v="6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20:29.704" v="5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05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23" v="8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20:29.721" v="7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23" v="8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32" v="10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20:29.732" v="10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29" v="9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48" v="12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20:29.745" v="11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48" v="12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62" v="15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20:29.762" v="15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59" v="14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56" v="13" actId="27636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73" v="17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20:29.773" v="17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70" v="16" actId="27636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81" v="19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20:29.780" v="18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81" v="19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794" v="21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20:29.791" v="20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794" v="21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07" v="24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20:29.807" v="24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04" v="23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00" v="22" actId="27636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18" v="26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20:29.814" v="25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18" v="26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32" v="29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20:29.827" v="27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32" v="29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29" v="28" actId="27636"/>
          <ac:spMkLst>
            <pc:docMk/>
            <pc:sldMk cId="0" sldId="267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42" v="31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20:29.840" v="30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42" v="31" actId="27636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55" v="33" actId="27636"/>
        <pc:sldMkLst>
          <pc:docMk/>
          <pc:sldMk cId="0" sldId="269"/>
        </pc:sldMkLst>
        <pc:spChg chg="mod">
          <ac:chgData name="Rodrigue YENGO" userId="9019d928-c12d-48de-bdb2-52a833805ac2" providerId="ADAL" clId="{20734E0D-FF75-44B1-9DFF-D19DBB4D069A}" dt="2026-07-28T08:20:29.855" v="33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52" v="32" actId="2763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69" v="35" actId="27636"/>
        <pc:sldMkLst>
          <pc:docMk/>
          <pc:sldMk cId="0" sldId="270"/>
        </pc:sldMkLst>
        <pc:spChg chg="mod">
          <ac:chgData name="Rodrigue YENGO" userId="9019d928-c12d-48de-bdb2-52a833805ac2" providerId="ADAL" clId="{20734E0D-FF75-44B1-9DFF-D19DBB4D069A}" dt="2026-07-28T08:20:29.869" v="35" actId="276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65" v="34" actId="27636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81" v="37" actId="27636"/>
        <pc:sldMkLst>
          <pc:docMk/>
          <pc:sldMk cId="0" sldId="271"/>
        </pc:sldMkLst>
        <pc:spChg chg="mod">
          <ac:chgData name="Rodrigue YENGO" userId="9019d928-c12d-48de-bdb2-52a833805ac2" providerId="ADAL" clId="{20734E0D-FF75-44B1-9DFF-D19DBB4D069A}" dt="2026-07-28T08:20:29.878" v="36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81" v="37" actId="27636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895" v="40" actId="27636"/>
        <pc:sldMkLst>
          <pc:docMk/>
          <pc:sldMk cId="0" sldId="272"/>
        </pc:sldMkLst>
        <pc:spChg chg="mod">
          <ac:chgData name="Rodrigue YENGO" userId="9019d928-c12d-48de-bdb2-52a833805ac2" providerId="ADAL" clId="{20734E0D-FF75-44B1-9DFF-D19DBB4D069A}" dt="2026-07-28T08:20:29.888" v="38" actId="27636"/>
          <ac:spMkLst>
            <pc:docMk/>
            <pc:sldMk cId="0" sldId="27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92" v="39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895" v="40" actId="27636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29.917" v="42" actId="27636"/>
        <pc:sldMkLst>
          <pc:docMk/>
          <pc:sldMk cId="0" sldId="273"/>
        </pc:sldMkLst>
        <pc:spChg chg="mod">
          <ac:chgData name="Rodrigue YENGO" userId="9019d928-c12d-48de-bdb2-52a833805ac2" providerId="ADAL" clId="{20734E0D-FF75-44B1-9DFF-D19DBB4D069A}" dt="2026-07-28T08:20:29.915" v="41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29.917" v="42" actId="27636"/>
          <ac:spMkLst>
            <pc:docMk/>
            <pc:sldMk cId="0" sldId="273"/>
            <ac:spMk id="4" creationId="{00000000-0000-0000-0000-000000000000}"/>
          </ac:spMkLst>
        </pc:spChg>
      </pc:sldChg>
      <pc:sldMasterChg chg="addSp mod">
        <pc:chgData name="Rodrigue YENGO" userId="9019d928-c12d-48de-bdb2-52a833805ac2" providerId="ADAL" clId="{20734E0D-FF75-44B1-9DFF-D19DBB4D069A}" dt="2026-07-28T08:28:38.187" v="43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8T08:28:38.187" v="43" actId="22"/>
          <ac:picMkLst>
            <pc:docMk/>
            <pc:sldMasterMk cId="0" sldId="2147483648"/>
            <ac:picMk id="3" creationId="{BF8BBC9D-AD04-C05B-9A77-0FD8EA0BB7F1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3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fil rouge : un même projet AdventureWorks construit progressivement sur les 3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AdventureWorksLT et le scénario fil rouge.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minutes, binôme.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fil rouge — remercier les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F8BBC9D-AD04-C05B-9A77-0FD8EA0BB7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73948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DAYS · MICROSOFT FABRIC DATA ENGINEER (DP-700)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 rouge des exercices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AdventureWorks Cycles : construire une plateforme analytique complète dans Microsoft Fabric, exercice après exercice.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30834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exercices, Jour 1 à Jour 3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351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jeu de données : AdventureWorksLT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d'exemple Microsoft d'un fabricant de vélos fictif, version allégée AdventureWorksLT.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clés : Customer, Product, ProductCategory, SalesOrderHeader, SalesOrderDetail, Address.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Scénario : nous jouons le rôle de l'équipe data d'AdventureWorks Cycles qui construit sa plateforme Fabric.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27807" y="3866108"/>
            <a:ext cx="2190452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436"/>
              </a:lnSpc>
              <a:buNone/>
            </a:pPr>
            <a:r>
              <a:rPr lang="en-US" sz="16500" kern="0" spc="-330" dirty="0">
                <a:solidFill>
                  <a:srgbClr val="4C53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J1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09960" y="6094958"/>
            <a:ext cx="9237553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Configurer, versionner, sécuriser</a:t>
            </a:r>
            <a:endParaRPr lang="en-US" sz="4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17146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J1 · S1 · CONFIGURE FABRIC WORKSPACE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et sécuriser l'espace de travail du projet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873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20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20826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2271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l'espace de travail AdventureWorks-[vosinitiales], l'affecter à une capacité d'essai.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domaine « Ventes &amp; Analytique » et y rattacher l'espace de travail.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Attribuer les rôles Administrateur, Membre, Observateur ; créer le lakehouse AdvWorksLakehouse.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61377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661377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680427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un espace de travail actif, rattaché à une capacité et un domaine, avec un lakehouse prêt à être alimenté.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3286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J1 · S2 · LIFECYCLE MANAGEMENT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de déploiement et intégration Git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873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20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20826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les espaces Test et Prod, puis un pipeline de déploiement à trois étapes.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Déployer le lakehouse de Dev vers Test et comparer les étapes.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Connecter l'espace Dev à un dépôt Git et committer l'état initial.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77557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577557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596607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un pipeline de déploiement fonctionnel, le lakehouse promu jusqu'en Test, Dev connecté à Git.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1036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J1 · S3 · SECURITY &amp; GOUVERNANCE — PARTIE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Rôles, permissions et accès granulaire T-SQL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3810446"/>
            <a:ext cx="14859000" cy="1009650"/>
          </a:xfrm>
          <a:prstGeom prst="roundRect">
            <a:avLst>
              <a:gd name="adj" fmla="val 7547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4000946"/>
            <a:ext cx="148094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SELECT ON SalesLT.Customer TO [role_analystes_ventes];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 SELECT ON SalesLT.Customer TO [role_stagiaires];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5478066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43000" y="5478066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38275" y="5668566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accès en lecture fonctionnel pour les analystes ventes, refusé pour les stagiaires sur Customer.</a:t>
            </a:r>
            <a:endParaRPr lang="en-US" sz="1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1036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J1 · S4 · SECURITY &amp; GOUVERNANCE — PARTIE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Masquage dynamique, RLS et gouvernance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42095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Groupe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Masquer email et téléphone client avec DDM (email(), default()).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prédicat RLS limitant chaque commercial à son territoire sur SalesOrderHeader.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Étiqueter le lakehouse « Confidentiel » et l'approuver dans le catalogue.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19467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619467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638517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données sensibles masquées, commandes filtrées par territoire, lakehouse approuvé et étiqueté.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27807" y="3866108"/>
            <a:ext cx="2654082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436"/>
              </a:lnSpc>
              <a:buNone/>
            </a:pPr>
            <a:r>
              <a:rPr lang="en-US" sz="16500" kern="0" spc="-330" dirty="0">
                <a:solidFill>
                  <a:srgbClr val="4C53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J2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09960" y="6094958"/>
            <a:ext cx="8440772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Ingérer, transformer, streamer</a:t>
            </a:r>
            <a:endParaRPr lang="en-US" sz="4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35811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J2 · S1 · LOADING PATTERNS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et dimension produit en SCD Type 2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« Copier des données » vers bronze/ : Product, ProductCategory, SalesOrderHeader, SalesOrderDetail, Customer.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DimProduct avec clé de substitution ProductKey et colonnes IsActive / ValidFrom / ValidTo (SCD2 sur ListPrice).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02709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602709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621759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cinq tables sources en zone bronze, dimension produit prête pour l'historique.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3542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J2 · S2 · BATCH TRANSFORMATION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 Spark et table Delta optimisée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873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20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20826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3810446"/>
            <a:ext cx="14859000" cy="1952625"/>
          </a:xfrm>
          <a:prstGeom prst="roundRect">
            <a:avLst>
              <a:gd name="adj" fmla="val 3902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4000946"/>
            <a:ext cx="1480947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(lines.join(orders, "SalesOrderID")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.groupBy("ProductID")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.agg({"LineTotal": "sum", "OrderQty": "sum"}))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sales.write.format("delta").mode("overwrite")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.saveAsTable("silver_sales_by_product")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6421041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43000" y="6421041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38275" y="6611541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table Delta silver_sales_by_product agrégée par produit, avec OptimizeWrite activé.</a:t>
            </a:r>
            <a:endParaRPr lang="en-US" sz="1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4879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J2 · S3 · BATCH TRANSFORMATION — SUITE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médaillon et couche Gold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CTAS gold_sales_summary combinant produits, catégories et ventes agrégées.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Restreindre l'accès à bronze aux ingénieurs données via un rôle OneLake.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rapport Power BI simple : revenu par catégorie.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77557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577557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596607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couche Gold interrogeable, bronze restreint, premier rapport de revenu par catégorie.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9209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J2 · S4 · REAL-TIME TRANSFORMATION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Simuler un flux de commandes en temps réel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3810446"/>
            <a:ext cx="14859000" cy="1638300"/>
          </a:xfrm>
          <a:prstGeom prst="roundRect">
            <a:avLst>
              <a:gd name="adj" fmla="val 4651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4000946"/>
            <a:ext cx="1480947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OrdersLive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where ingestion_time() &gt; ago(10m)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summarize TotalRevenue = sum(TotalDue), Orders = count()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 bin(ingestion_time(), 1m)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6106716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43000" y="6106716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38275" y="6297216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flux de commandes filtré et agrégé, stocké dans un Eventhouse, interrogeable en KQL.</a:t>
            </a:r>
            <a:endParaRPr lang="en-US" sz="1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27807" y="3866108"/>
            <a:ext cx="2678966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4436"/>
              </a:lnSpc>
              <a:buNone/>
            </a:pPr>
            <a:r>
              <a:rPr lang="en-US" sz="16500" kern="0" spc="-330" dirty="0">
                <a:solidFill>
                  <a:srgbClr val="4C53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J3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09960" y="6094958"/>
            <a:ext cx="1015122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Superviser, diagnostiquer, optimiser</a:t>
            </a:r>
            <a:endParaRPr lang="en-US" sz="4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3999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J3 · S1 · MONITORING &amp; ALERTS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de surveillance et alerte Activator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873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20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20826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Consulter l'historique d'exécution du pipeline d'ingestion et les sessions actives (DMV).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une règle Activator déclenchée si TotalRevenue &gt; 5000 $ sur 1 minute, avec action e-mail.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02709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602709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621759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règle Activator opérationnelle notifiant l'équipe en cas de pic de revenu anormal.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74388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J3 · S2 · ERROR IDENTIFICATION &amp; RESOLUTION — PARTIE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Casser puis réparer le pipeline d'ingestion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8732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20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20826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Modifier volontairement la connexion source, exécuter, lire l'erreur exacte.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Corriger la configuration, rejouer uniquement l'activité en échec.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une règle Activator alertant sur un futur échec.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577557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577557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596607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pipeline corrigé et ré-exécuté avec succès, alerte de sécurité en place.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74388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J3 · S3 · ERROR IDENTIFICATION &amp; RESOLUTION — PARTIE 2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Requête lente et accès refusé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9640" y="3722489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 une requête coûteuse via queryinsights.long_running_queries et l'optimiser.</a:t>
            </a:r>
            <a:endParaRPr lang="en-US" sz="2400" dirty="0"/>
          </a:p>
          <a:p>
            <a:pPr marL="0" indent="0" algn="l">
              <a:lnSpc>
                <a:spcPct val="112821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Reproduire un accès RLS refusé avec un compte d'un autre territoire, vérifier et corriger le prédicat.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6027093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43000" y="6027093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438275" y="6217593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requête optimisée mesurablement plus rapide, accès RLS vérifié et corrigé.</a:t>
            </a:r>
            <a:endParaRPr lang="en-US" sz="1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8830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J3 · S4 · PERFORMANCE OPTIMIZATION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Optimize, V-Order, Vacuum et partitionnement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781300"/>
            <a:ext cx="9794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25 min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12938" y="2781300"/>
            <a:ext cx="10532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Binôme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3000" y="3810446"/>
            <a:ext cx="14859000" cy="1009650"/>
          </a:xfrm>
          <a:prstGeom prst="roundRect">
            <a:avLst>
              <a:gd name="adj" fmla="val 7547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90650" y="4000946"/>
            <a:ext cx="1480947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 silver_sales_by_product;</a:t>
            </a:r>
            <a:endParaRPr lang="en-US" sz="16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VACUUM silver_sales_by_product RETAIN 168 HOURS;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143000" y="5478066"/>
            <a:ext cx="14859000" cy="752475"/>
          </a:xfrm>
          <a:prstGeom prst="rect">
            <a:avLst/>
          </a:prstGeom>
          <a:solidFill>
            <a:srgbClr val="2C2642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43000" y="5478066"/>
            <a:ext cx="28575" cy="752475"/>
          </a:xfrm>
          <a:prstGeom prst="rect">
            <a:avLst/>
          </a:prstGeom>
          <a:solidFill>
            <a:srgbClr val="9184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38275" y="5668566"/>
            <a:ext cx="147427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Résultat : tables compactées, ordonnées et partitionnées — la solution AdventureWorks est prête pour la production.</a:t>
            </a:r>
            <a:endParaRPr lang="en-US" sz="1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38391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 ROUGE ADVENTUREWORKS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Merci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Douze exercices, une seule plateforme Fabric construite de bout en bout.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459DF86-4DAA-44C3-998E-22E734ED0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f9240-fc95-4deb-9c9d-de700c44a7a7"/>
    <ds:schemaRef ds:uri="33363a87-7e43-46da-9332-4c6d176b06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B74E74-2673-4E6B-BDD7-11933FBF25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0BDBC4-A6AC-46E7-B6FB-4805219A7847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33363a87-7e43-46da-9332-4c6d176b06e4"/>
    <ds:schemaRef ds:uri="http://schemas.microsoft.com/office/2006/documentManagement/types"/>
    <ds:schemaRef ds:uri="http://schemas.openxmlformats.org/package/2006/metadata/core-properties"/>
    <ds:schemaRef ds:uri="d9df9240-fc95-4deb-9c9d-de700c44a7a7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1111</Words>
  <Application>Microsoft Office PowerPoint</Application>
  <PresentationFormat>Personnalisé</PresentationFormat>
  <Paragraphs>147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 rouge des exercices</dc:title>
  <dc:subject>PptxGenJS Presentation</dc:subject>
  <dc:creator/>
  <cp:lastModifiedBy>Rodrigue YENGO</cp:lastModifiedBy>
  <cp:revision>1</cp:revision>
  <dcterms:created xsi:type="dcterms:W3CDTF">2026-07-28T08:08:47Z</dcterms:created>
  <dcterms:modified xsi:type="dcterms:W3CDTF">2026-07-28T08:28:38Z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