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EBA7A-231B-4F1D-B7C9-849D82CD7890}" v="2" dt="2026-07-28T08:14:00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8T08:24:28.236" v="78" actId="14100"/>
      <pc:docMkLst>
        <pc:docMk/>
      </pc:docMkLst>
      <pc:sldChg chg="modSp mod">
        <pc:chgData name="Rodrigue YENGO" userId="9019d928-c12d-48de-bdb2-52a833805ac2" providerId="ADAL" clId="{20734E0D-FF75-44B1-9DFF-D19DBB4D069A}" dt="2026-07-28T08:13:38.915" v="4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8T08:13:38.909" v="1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11" v="2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15" v="4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13" v="3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898" v="0" actId="2763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3:38.957" v="6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8T08:13:38.957" v="6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54" v="5" actId="276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3:38.973" v="10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8T08:13:38.973" v="10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71" v="9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69" v="8" actId="276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67" v="7" actId="27636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3:39.012" v="27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8T08:13:38.979" v="12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77" v="11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94" v="19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96" v="20" actId="276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83" v="14" actId="2763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06" v="24" actId="2763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01" v="22" actId="2763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81" v="13" actId="2763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04" v="23" actId="2763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12" v="27" actId="2763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08" v="25" actId="2763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85" v="15" actId="2763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09" v="26" actId="2763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98" v="21" actId="2763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92" v="18" actId="27636"/>
          <ac:spMkLst>
            <pc:docMk/>
            <pc:sldMk cId="0" sldId="259"/>
            <ac:spMk id="3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90" v="17" actId="27636"/>
          <ac:spMkLst>
            <pc:docMk/>
            <pc:sldMk cId="0" sldId="259"/>
            <ac:spMk id="3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8.988" v="16" actId="27636"/>
          <ac:spMkLst>
            <pc:docMk/>
            <pc:sldMk cId="0" sldId="259"/>
            <ac:spMk id="39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3:39.031" v="33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8T08:13:39.031" v="33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29" v="32" actId="276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15" v="28" actId="27636"/>
          <ac:spMkLst>
            <pc:docMk/>
            <pc:sldMk cId="0" sldId="260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26" v="31" actId="276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24" v="30" actId="27636"/>
          <ac:spMkLst>
            <pc:docMk/>
            <pc:sldMk cId="0" sldId="260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21" v="29" actId="27636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3:39.065" v="40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8T08:13:39.061" v="36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64" v="39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62" v="37" actId="27636"/>
          <ac:spMkLst>
            <pc:docMk/>
            <pc:sldMk cId="0" sldId="261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58" v="35" actId="276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65" v="40" actId="276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56" v="34" actId="2763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63" v="38" actId="27636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3:39.088" v="52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8T08:13:39.074" v="44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69" v="42" actId="276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67" v="41" actId="276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86" v="51" actId="27636"/>
          <ac:spMkLst>
            <pc:docMk/>
            <pc:sldMk cId="0" sldId="262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72" v="43" actId="2763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77" v="46" actId="2763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88" v="52" actId="2763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85" v="50" actId="2763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75" v="45" actId="2763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79" v="47" actId="2763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80" v="48" actId="2763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83" v="49" actId="27636"/>
          <ac:spMkLst>
            <pc:docMk/>
            <pc:sldMk cId="0" sldId="262"/>
            <ac:spMk id="29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3:39.099" v="57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08:13:39.099" v="57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96" v="55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92" v="53" actId="276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94" v="54" actId="27636"/>
          <ac:spMkLst>
            <pc:docMk/>
            <pc:sldMk cId="0" sldId="263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098" v="56" actId="27636"/>
          <ac:spMkLst>
            <pc:docMk/>
            <pc:sldMk cId="0" sldId="263"/>
            <ac:spMk id="9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3:39.105" v="59" actId="27636"/>
        <pc:sldMkLst>
          <pc:docMk/>
          <pc:sldMk cId="0" sldId="264"/>
        </pc:sldMkLst>
        <pc:spChg chg="mod">
          <ac:chgData name="Rodrigue YENGO" userId="9019d928-c12d-48de-bdb2-52a833805ac2" providerId="ADAL" clId="{20734E0D-FF75-44B1-9DFF-D19DBB4D069A}" dt="2026-07-28T08:13:39.105" v="59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102" v="58" actId="27636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3:39.112" v="61" actId="27636"/>
        <pc:sldMkLst>
          <pc:docMk/>
          <pc:sldMk cId="0" sldId="265"/>
        </pc:sldMkLst>
        <pc:spChg chg="mod">
          <ac:chgData name="Rodrigue YENGO" userId="9019d928-c12d-48de-bdb2-52a833805ac2" providerId="ADAL" clId="{20734E0D-FF75-44B1-9DFF-D19DBB4D069A}" dt="2026-07-28T08:13:39.109" v="60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112" v="61" actId="27636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3:39.120" v="63" actId="27636"/>
        <pc:sldMkLst>
          <pc:docMk/>
          <pc:sldMk cId="0" sldId="266"/>
        </pc:sldMkLst>
        <pc:spChg chg="mod">
          <ac:chgData name="Rodrigue YENGO" userId="9019d928-c12d-48de-bdb2-52a833805ac2" providerId="ADAL" clId="{20734E0D-FF75-44B1-9DFF-D19DBB4D069A}" dt="2026-07-28T08:13:39.117" v="62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120" v="63" actId="2763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3:39.130" v="65" actId="27636"/>
        <pc:sldMkLst>
          <pc:docMk/>
          <pc:sldMk cId="0" sldId="267"/>
        </pc:sldMkLst>
        <pc:spChg chg="mod">
          <ac:chgData name="Rodrigue YENGO" userId="9019d928-c12d-48de-bdb2-52a833805ac2" providerId="ADAL" clId="{20734E0D-FF75-44B1-9DFF-D19DBB4D069A}" dt="2026-07-28T08:13:39.130" v="65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126" v="64" actId="27636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13:39.134" v="67" actId="27636"/>
        <pc:sldMkLst>
          <pc:docMk/>
          <pc:sldMk cId="0" sldId="268"/>
        </pc:sldMkLst>
        <pc:spChg chg="mod">
          <ac:chgData name="Rodrigue YENGO" userId="9019d928-c12d-48de-bdb2-52a833805ac2" providerId="ADAL" clId="{20734E0D-FF75-44B1-9DFF-D19DBB4D069A}" dt="2026-07-28T08:13:39.134" v="67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13:39.132" v="66" actId="27636"/>
          <ac:spMkLst>
            <pc:docMk/>
            <pc:sldMk cId="0" sldId="268"/>
            <ac:spMk id="5" creationId="{00000000-0000-0000-0000-000000000000}"/>
          </ac:spMkLst>
        </pc:spChg>
      </pc:sldChg>
      <pc:sldMasterChg chg="addSp modSp mod">
        <pc:chgData name="Rodrigue YENGO" userId="9019d928-c12d-48de-bdb2-52a833805ac2" providerId="ADAL" clId="{20734E0D-FF75-44B1-9DFF-D19DBB4D069A}" dt="2026-07-28T08:24:28.236" v="78" actId="14100"/>
        <pc:sldMasterMkLst>
          <pc:docMk/>
          <pc:sldMasterMk cId="0" sldId="2147483648"/>
        </pc:sldMasterMkLst>
        <pc:picChg chg="add mod">
          <ac:chgData name="Rodrigue YENGO" userId="9019d928-c12d-48de-bdb2-52a833805ac2" providerId="ADAL" clId="{20734E0D-FF75-44B1-9DFF-D19DBB4D069A}" dt="2026-07-28T08:24:28.236" v="78" actId="14100"/>
          <ac:picMkLst>
            <pc:docMk/>
            <pc:sldMasterMk cId="0" sldId="2147483648"/>
            <ac:picMk id="3" creationId="{EFDE2A6F-21C7-1602-C60B-3A4B3F53A350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2669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Accueillir le groupe, présenter le déroulé de la journée 1 et situer cette session comme point de départ du parcours DP-700.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Passer les objectifs rapidement, ils seront revisités au récapitulatif.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l'aspect SaaS unifié : un seul produit, plusieurs charges de travail, un lac de données partagé.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le lien avec le portail admin M365 / Fabric que l'on montrera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Rappeler que ce sont des rôles Microsoft 365 / Power Platform, pas des rôles Fabric.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les étapes concrètes de création dans le portail — on les fera dans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rôles reviendront dans la session sécurité — bien les ancrer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Relier chaque rôle métier à la charge de travail Fabric qu'il utilise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sont des points de vigilance qu'on retrouvera lors des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guidé en petits groupes, 20 minutes ; circuler pour aider sur l'attribution des rôles.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1 minute de réflexion avant de révéler la bonne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Boucler sur les objectifs annoncés en ouverture.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la gestion du cycle de vie : Git, déploiement,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FDE2A6F-21C7-1602-C60B-3A4B3F53A3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516350" y="50800"/>
            <a:ext cx="1752600" cy="1168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453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SESSION 1 · 09:00 – 10:45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85850" y="393948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Fabric Workspace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166271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Découvrir l'architecture de Microsoft Fabric, activer le service et configurer votre premier espace de travail.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589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Microsoft Fabric Data Engineer (DP-700)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483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SESSION 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d'apprentissage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85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l'analytique de bout en bout dans Microsoft Fabric et ses charges de travail.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la hiérarchie locataire → capacité → domaine → espace de travail.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Fabric dans un locataire Microsoft 365.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 espace de travail et attribuer les rôles adaptés à une équipe de données.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80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plateforme d'analytique unifiée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SaaS unique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84860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regroupe Data Factory, Engineering des données, Data Warehouse, Science des données, Real-Time Intelligence et Power BI dans un seul produit, avec une sécurité et une gouvernance communes.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OneLake, le lac unique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848600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lac de données pour toute l'organisation : les charges de travail lisent et écrivent les mêmes données sans duplication, via le format Delta Parquet.</a:t>
            </a:r>
            <a:endParaRPr lang="en-US" sz="1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80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Locataire, capacité, domaine, espace de travail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158877"/>
            <a:ext cx="14859000" cy="500063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43000" y="3649414"/>
            <a:ext cx="2602111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3330327"/>
            <a:ext cx="2451574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745111" y="3649414"/>
            <a:ext cx="7702004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745111" y="3330327"/>
            <a:ext cx="7704464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AEAE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47115" y="3649414"/>
            <a:ext cx="455488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1447115" y="3330327"/>
            <a:ext cx="4462931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AEAE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43000" y="3658939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143000" y="4195911"/>
            <a:ext cx="2602111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143000" y="3830389"/>
            <a:ext cx="245157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Locataire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745111" y="4195911"/>
            <a:ext cx="7702004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745111" y="3830389"/>
            <a:ext cx="770446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L'organisation entière dans Microsoft Entra ID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1447115" y="4195911"/>
            <a:ext cx="455488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1447115" y="3830389"/>
            <a:ext cx="4462931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contoso.onmicrosoft.com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43000" y="4205436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143000" y="4742408"/>
            <a:ext cx="2602111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143000" y="4376886"/>
            <a:ext cx="245157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3745111" y="4742408"/>
            <a:ext cx="7702004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745111" y="4376886"/>
            <a:ext cx="770446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Puissance de calcul réservée, facturée en SKU F/P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1447115" y="4742408"/>
            <a:ext cx="455488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1447115" y="4376886"/>
            <a:ext cx="4462931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 F64 Ventes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143000" y="4751933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143000" y="5288905"/>
            <a:ext cx="2602111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143000" y="4923383"/>
            <a:ext cx="245157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3745111" y="5288905"/>
            <a:ext cx="7702004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745111" y="4923383"/>
            <a:ext cx="770446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Regroupement logique d'espaces de travail par métier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1447115" y="5288905"/>
            <a:ext cx="455488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1447115" y="4923383"/>
            <a:ext cx="4462931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 Finance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143000" y="5298430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1143000" y="5835402"/>
            <a:ext cx="2602111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143000" y="5469880"/>
            <a:ext cx="245157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de travail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3745111" y="5835402"/>
            <a:ext cx="7702004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745111" y="5469880"/>
            <a:ext cx="770446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 des éléments Fabric et des rôles d'accès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1447115" y="5835402"/>
            <a:ext cx="4554885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11447115" y="5469880"/>
            <a:ext cx="4462931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Ingénierie Données</a:t>
            </a:r>
            <a:endParaRPr lang="en-US" sz="21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5120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Fabric dans le locataire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81100" y="3057674"/>
            <a:ext cx="773577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L'activation est réalisée par un administrateur Fabric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1100" y="3514874"/>
            <a:ext cx="12740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1935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(anciennement administrateur Power BI)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81100" y="4175075"/>
            <a:ext cx="1274445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par un administrateur Power Platform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1100" y="4761756"/>
            <a:ext cx="1274445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par un administrateur Microsoft 365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1100" y="5348436"/>
            <a:ext cx="11931015" cy="678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fois activé, les espaces de travail doivent être affectés à une capacité Fabric pour utiliser les charges de travail payantes.</a:t>
            </a:r>
            <a:endParaRPr lang="en-US" sz="2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4736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DE TRAVAIL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et configurer un espace de travail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248918"/>
            <a:ext cx="5156150" cy="1961108"/>
          </a:xfrm>
          <a:prstGeom prst="roundRect">
            <a:avLst>
              <a:gd name="adj" fmla="val 3886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19225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Créer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19225" y="3935760"/>
            <a:ext cx="474181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Nommer l'espace de travail, choisir un domaine et une description claire pour l'équipe.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65850" y="3248918"/>
            <a:ext cx="5156150" cy="1961108"/>
          </a:xfrm>
          <a:prstGeom prst="roundRect">
            <a:avLst>
              <a:gd name="adj" fmla="val 3886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42075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Affecter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42075" y="3935760"/>
            <a:ext cx="474181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Rattacher l'espace de travail à une capacité Fabric pour activer les charges de travail complètes.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988701" y="3248918"/>
            <a:ext cx="5156150" cy="1961108"/>
          </a:xfrm>
          <a:prstGeom prst="roundRect">
            <a:avLst>
              <a:gd name="adj" fmla="val 3886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2264926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Sécuriser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264926" y="3935760"/>
            <a:ext cx="474181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Attribuer les rôles aux membres de l'équipe avant de créer le moindre élément.</a:t>
            </a:r>
            <a:endParaRPr lang="en-US" sz="1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1986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d'espace de travail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158877"/>
            <a:ext cx="14859000" cy="500063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43000" y="3649414"/>
            <a:ext cx="3330922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3330327"/>
            <a:ext cx="320225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473922" y="3649414"/>
            <a:ext cx="11528078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473922" y="3330327"/>
            <a:ext cx="11645320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AEAE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PEUT FAIRE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3000" y="3658939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143000" y="4195911"/>
            <a:ext cx="3330922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143000" y="3830389"/>
            <a:ext cx="3202250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Administrateur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4473922" y="4195911"/>
            <a:ext cx="11528078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473922" y="3830389"/>
            <a:ext cx="11645320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l'espace de travail, les rôles et tous les éléments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4205436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143000" y="4742408"/>
            <a:ext cx="3330922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43000" y="4376886"/>
            <a:ext cx="3202250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473922" y="4742408"/>
            <a:ext cx="11528078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473922" y="4376886"/>
            <a:ext cx="11645320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Ajouter, modifier des éléments et gérer certains accès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4751933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143000" y="5288905"/>
            <a:ext cx="3330922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143000" y="4923383"/>
            <a:ext cx="3202250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Contributeur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4473922" y="5288905"/>
            <a:ext cx="11528078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473922" y="4923383"/>
            <a:ext cx="11645320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et modifier des éléments dans l'espace de travail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143000" y="5298430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143000" y="5835402"/>
            <a:ext cx="3330922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143000" y="5469880"/>
            <a:ext cx="3202250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Observateur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4473922" y="5835402"/>
            <a:ext cx="11528078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473922" y="5469880"/>
            <a:ext cx="11645320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Consulter les éléments en lecture seule</a:t>
            </a:r>
            <a:endParaRPr lang="en-US" sz="21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1197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Équipes de données et Fabric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Ingénieurs données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Factory, Engineering des données, entrepôt de données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Analystes temps réel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Intelligence : eventstreams, eventhouses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Ingénieurs en analytique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BI, modèles sémantiques, entrepôt de données</a:t>
            </a:r>
            <a:endParaRPr lang="en-US" sz="1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5240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BONNES PRATIQUES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 démarrer un espace de travail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Adopter une convention de nommage cohérente par domaine et par équipe.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Séparer les environnements dev / test / prod dès la conception.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Documenter la capacité et le budget alloués à chaque espace de travail.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Anticiper l'intégration Git dès la création — sujet de la session suivante.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9879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pratique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20 minutes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En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4279404"/>
            <a:ext cx="3728085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Configurer un espace de travail Fabric pour une équipe de données fictive.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98745" y="3248918"/>
            <a:ext cx="12022455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 espace de travail nommé selon la convention de votre équipe.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Rattacher l'espace de travail à une capacité d'essai.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Attribuer les rôles Administrateur, Membre et Observateur à trois profils différents.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les accès en changeant de rôle et en observant les permissions.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30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peut activer Microsoft Fabric pour un locataire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contributeur d'un espace de travail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administrateur Fabric, Power Platform ou Microsoft 365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Uniquement le propriétaire de la capacité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5494883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rôle d'espace de travail permet de consulter les éléments sans les modifier 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138714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43025" y="6262539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Contributeur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3000" y="6865441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43025" y="6989266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Observateur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759216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43025" y="771599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Membre</a:t>
            </a:r>
            <a:endParaRPr lang="en-US" sz="1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57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vu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438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unifie les charges de travail data sur un lac unique, OneLake.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hiérarchie locataire → capacité → domaine → espace de travail structure l'organisation.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L'activation dépend des rôles d'administration M365 / Power Platform / Fabric.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rôles d'espace de travail cadrent l'accès de chaque membre de l'équipe.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4056162"/>
            <a:ext cx="263869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SESSION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6398806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Management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Git, pipelines de déploiement et gestion du cycle de vie des espaces de travail Fabric.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ée un document." ma:contentTypeScope="" ma:versionID="ce288966c27ce7b3e7a9f8d1d4c0f960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ee543c07c1445a444ae8fee589f454ee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C829EF-1780-4A76-B2D0-2BD4C730AC2B}">
  <ds:schemaRefs>
    <ds:schemaRef ds:uri="http://schemas.microsoft.com/office/2006/documentManagement/types"/>
    <ds:schemaRef ds:uri="http://purl.org/dc/terms/"/>
    <ds:schemaRef ds:uri="http://purl.org/dc/elements/1.1/"/>
    <ds:schemaRef ds:uri="d9df9240-fc95-4deb-9c9d-de700c44a7a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33363a87-7e43-46da-9332-4c6d176b06e4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D61423F-EBF7-4DA8-9535-85A4EF7A20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f9240-fc95-4deb-9c9d-de700c44a7a7"/>
    <ds:schemaRef ds:uri="33363a87-7e43-46da-9332-4c6d176b06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2B69C8-19B1-4147-B6A4-C5D68269660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916</Words>
  <Application>Microsoft Office PowerPoint</Application>
  <PresentationFormat>Personnalisé</PresentationFormat>
  <Paragraphs>130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Configure Fabric Workspace</dc:title>
  <dc:subject>PptxGenJS Presentation</dc:subject>
  <dc:creator/>
  <cp:lastModifiedBy>Rodrigue YENGO</cp:lastModifiedBy>
  <cp:revision>1</cp:revision>
  <dcterms:created xsi:type="dcterms:W3CDTF">2026-07-28T07:54:58Z</dcterms:created>
  <dcterms:modified xsi:type="dcterms:W3CDTF">2026-07-28T08:24:36Z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