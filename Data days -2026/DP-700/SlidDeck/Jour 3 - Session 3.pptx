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06964B-F4ED-4F04-8462-0F4E4EE6A25F}" v="2" dt="2026-07-28T08:21:03.2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53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ue YENGO" userId="9019d928-c12d-48de-bdb2-52a833805ac2" providerId="ADAL" clId="{20734E0D-FF75-44B1-9DFF-D19DBB4D069A}"/>
    <pc:docChg chg="custSel modSld modMainMaster">
      <pc:chgData name="Rodrigue YENGO" userId="9019d928-c12d-48de-bdb2-52a833805ac2" providerId="ADAL" clId="{20734E0D-FF75-44B1-9DFF-D19DBB4D069A}" dt="2026-07-28T08:29:10.058" v="40" actId="22"/>
      <pc:docMkLst>
        <pc:docMk/>
      </pc:docMkLst>
      <pc:sldChg chg="modSp mod">
        <pc:chgData name="Rodrigue YENGO" userId="9019d928-c12d-48de-bdb2-52a833805ac2" providerId="ADAL" clId="{20734E0D-FF75-44B1-9DFF-D19DBB4D069A}" dt="2026-07-28T08:21:00.248" v="5" actId="27636"/>
        <pc:sldMkLst>
          <pc:docMk/>
          <pc:sldMk cId="0" sldId="256"/>
        </pc:sldMkLst>
        <pc:spChg chg="mod">
          <ac:chgData name="Rodrigue YENGO" userId="9019d928-c12d-48de-bdb2-52a833805ac2" providerId="ADAL" clId="{20734E0D-FF75-44B1-9DFF-D19DBB4D069A}" dt="2026-07-28T08:21:00.244" v="4" actId="27636"/>
          <ac:spMkLst>
            <pc:docMk/>
            <pc:sldMk cId="0" sldId="256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1:00.238" v="3" actId="27636"/>
          <ac:spMkLst>
            <pc:docMk/>
            <pc:sldMk cId="0" sldId="256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1:00.236" v="2" actId="27636"/>
          <ac:spMkLst>
            <pc:docMk/>
            <pc:sldMk cId="0" sldId="256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1:00.231" v="0" actId="27636"/>
          <ac:spMkLst>
            <pc:docMk/>
            <pc:sldMk cId="0" sldId="256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1:00.248" v="5" actId="27636"/>
          <ac:spMkLst>
            <pc:docMk/>
            <pc:sldMk cId="0" sldId="256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1:00.234" v="1" actId="27636"/>
          <ac:spMkLst>
            <pc:docMk/>
            <pc:sldMk cId="0" sldId="256"/>
            <ac:spMk id="8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21:00.300" v="7" actId="27636"/>
        <pc:sldMkLst>
          <pc:docMk/>
          <pc:sldMk cId="0" sldId="257"/>
        </pc:sldMkLst>
        <pc:spChg chg="mod">
          <ac:chgData name="Rodrigue YENGO" userId="9019d928-c12d-48de-bdb2-52a833805ac2" providerId="ADAL" clId="{20734E0D-FF75-44B1-9DFF-D19DBB4D069A}" dt="2026-07-28T08:21:00.300" v="7" actId="27636"/>
          <ac:spMkLst>
            <pc:docMk/>
            <pc:sldMk cId="0" sldId="257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1:00.294" v="6" actId="27636"/>
          <ac:spMkLst>
            <pc:docMk/>
            <pc:sldMk cId="0" sldId="257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21:00.347" v="17" actId="27636"/>
        <pc:sldMkLst>
          <pc:docMk/>
          <pc:sldMk cId="0" sldId="258"/>
        </pc:sldMkLst>
        <pc:spChg chg="mod">
          <ac:chgData name="Rodrigue YENGO" userId="9019d928-c12d-48de-bdb2-52a833805ac2" providerId="ADAL" clId="{20734E0D-FF75-44B1-9DFF-D19DBB4D069A}" dt="2026-07-28T08:21:00.312" v="9" actId="27636"/>
          <ac:spMkLst>
            <pc:docMk/>
            <pc:sldMk cId="0" sldId="258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1:00.337" v="14" actId="27636"/>
          <ac:spMkLst>
            <pc:docMk/>
            <pc:sldMk cId="0" sldId="258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1:00.310" v="8" actId="27636"/>
          <ac:spMkLst>
            <pc:docMk/>
            <pc:sldMk cId="0" sldId="258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1:00.314" v="10" actId="27636"/>
          <ac:spMkLst>
            <pc:docMk/>
            <pc:sldMk cId="0" sldId="258"/>
            <ac:spMk id="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1:00.331" v="13" actId="27636"/>
          <ac:spMkLst>
            <pc:docMk/>
            <pc:sldMk cId="0" sldId="258"/>
            <ac:spMk id="1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1:00.326" v="12" actId="27636"/>
          <ac:spMkLst>
            <pc:docMk/>
            <pc:sldMk cId="0" sldId="258"/>
            <ac:spMk id="1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1:00.321" v="11" actId="27636"/>
          <ac:spMkLst>
            <pc:docMk/>
            <pc:sldMk cId="0" sldId="258"/>
            <ac:spMk id="1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1:00.345" v="16" actId="27636"/>
          <ac:spMkLst>
            <pc:docMk/>
            <pc:sldMk cId="0" sldId="258"/>
            <ac:spMk id="1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1:00.347" v="17" actId="27636"/>
          <ac:spMkLst>
            <pc:docMk/>
            <pc:sldMk cId="0" sldId="258"/>
            <ac:spMk id="2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1:00.342" v="15" actId="27636"/>
          <ac:spMkLst>
            <pc:docMk/>
            <pc:sldMk cId="0" sldId="258"/>
            <ac:spMk id="2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21:00.357" v="19" actId="27636"/>
        <pc:sldMkLst>
          <pc:docMk/>
          <pc:sldMk cId="0" sldId="259"/>
        </pc:sldMkLst>
        <pc:spChg chg="mod">
          <ac:chgData name="Rodrigue YENGO" userId="9019d928-c12d-48de-bdb2-52a833805ac2" providerId="ADAL" clId="{20734E0D-FF75-44B1-9DFF-D19DBB4D069A}" dt="2026-07-28T08:21:00.354" v="18" actId="27636"/>
          <ac:spMkLst>
            <pc:docMk/>
            <pc:sldMk cId="0" sldId="259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1:00.357" v="19" actId="27636"/>
          <ac:spMkLst>
            <pc:docMk/>
            <pc:sldMk cId="0" sldId="259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21:00.371" v="21" actId="27636"/>
        <pc:sldMkLst>
          <pc:docMk/>
          <pc:sldMk cId="0" sldId="260"/>
        </pc:sldMkLst>
        <pc:spChg chg="mod">
          <ac:chgData name="Rodrigue YENGO" userId="9019d928-c12d-48de-bdb2-52a833805ac2" providerId="ADAL" clId="{20734E0D-FF75-44B1-9DFF-D19DBB4D069A}" dt="2026-07-28T08:21:00.371" v="21" actId="27636"/>
          <ac:spMkLst>
            <pc:docMk/>
            <pc:sldMk cId="0" sldId="260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1:00.366" v="20" actId="27636"/>
          <ac:spMkLst>
            <pc:docMk/>
            <pc:sldMk cId="0" sldId="260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21:00.390" v="25" actId="27636"/>
        <pc:sldMkLst>
          <pc:docMk/>
          <pc:sldMk cId="0" sldId="261"/>
        </pc:sldMkLst>
        <pc:spChg chg="mod">
          <ac:chgData name="Rodrigue YENGO" userId="9019d928-c12d-48de-bdb2-52a833805ac2" providerId="ADAL" clId="{20734E0D-FF75-44B1-9DFF-D19DBB4D069A}" dt="2026-07-28T08:21:00.390" v="25" actId="27636"/>
          <ac:spMkLst>
            <pc:docMk/>
            <pc:sldMk cId="0" sldId="261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1:00.385" v="24" actId="27636"/>
          <ac:spMkLst>
            <pc:docMk/>
            <pc:sldMk cId="0" sldId="261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1:00.378" v="22" actId="27636"/>
          <ac:spMkLst>
            <pc:docMk/>
            <pc:sldMk cId="0" sldId="261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1:00.381" v="23" actId="27636"/>
          <ac:spMkLst>
            <pc:docMk/>
            <pc:sldMk cId="0" sldId="261"/>
            <ac:spMk id="7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21:00.400" v="27" actId="27636"/>
        <pc:sldMkLst>
          <pc:docMk/>
          <pc:sldMk cId="0" sldId="262"/>
        </pc:sldMkLst>
        <pc:spChg chg="mod">
          <ac:chgData name="Rodrigue YENGO" userId="9019d928-c12d-48de-bdb2-52a833805ac2" providerId="ADAL" clId="{20734E0D-FF75-44B1-9DFF-D19DBB4D069A}" dt="2026-07-28T08:21:00.400" v="27" actId="27636"/>
          <ac:spMkLst>
            <pc:docMk/>
            <pc:sldMk cId="0" sldId="262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1:00.397" v="26" actId="27636"/>
          <ac:spMkLst>
            <pc:docMk/>
            <pc:sldMk cId="0" sldId="262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21:00.409" v="29" actId="27636"/>
        <pc:sldMkLst>
          <pc:docMk/>
          <pc:sldMk cId="0" sldId="263"/>
        </pc:sldMkLst>
        <pc:spChg chg="mod">
          <ac:chgData name="Rodrigue YENGO" userId="9019d928-c12d-48de-bdb2-52a833805ac2" providerId="ADAL" clId="{20734E0D-FF75-44B1-9DFF-D19DBB4D069A}" dt="2026-07-28T08:21:00.406" v="28" actId="27636"/>
          <ac:spMkLst>
            <pc:docMk/>
            <pc:sldMk cId="0" sldId="263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1:00.409" v="29" actId="27636"/>
          <ac:spMkLst>
            <pc:docMk/>
            <pc:sldMk cId="0" sldId="263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21:00.418" v="31" actId="27636"/>
        <pc:sldMkLst>
          <pc:docMk/>
          <pc:sldMk cId="0" sldId="264"/>
        </pc:sldMkLst>
        <pc:spChg chg="mod">
          <ac:chgData name="Rodrigue YENGO" userId="9019d928-c12d-48de-bdb2-52a833805ac2" providerId="ADAL" clId="{20734E0D-FF75-44B1-9DFF-D19DBB4D069A}" dt="2026-07-28T08:21:00.418" v="31" actId="27636"/>
          <ac:spMkLst>
            <pc:docMk/>
            <pc:sldMk cId="0" sldId="264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1:00.414" v="30" actId="27636"/>
          <ac:spMkLst>
            <pc:docMk/>
            <pc:sldMk cId="0" sldId="264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21:00.431" v="33" actId="27636"/>
        <pc:sldMkLst>
          <pc:docMk/>
          <pc:sldMk cId="0" sldId="265"/>
        </pc:sldMkLst>
        <pc:spChg chg="mod">
          <ac:chgData name="Rodrigue YENGO" userId="9019d928-c12d-48de-bdb2-52a833805ac2" providerId="ADAL" clId="{20734E0D-FF75-44B1-9DFF-D19DBB4D069A}" dt="2026-07-28T08:21:00.427" v="32" actId="27636"/>
          <ac:spMkLst>
            <pc:docMk/>
            <pc:sldMk cId="0" sldId="265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1:00.431" v="33" actId="27636"/>
          <ac:spMkLst>
            <pc:docMk/>
            <pc:sldMk cId="0" sldId="265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21:00.440" v="35" actId="27636"/>
        <pc:sldMkLst>
          <pc:docMk/>
          <pc:sldMk cId="0" sldId="266"/>
        </pc:sldMkLst>
        <pc:spChg chg="mod">
          <ac:chgData name="Rodrigue YENGO" userId="9019d928-c12d-48de-bdb2-52a833805ac2" providerId="ADAL" clId="{20734E0D-FF75-44B1-9DFF-D19DBB4D069A}" dt="2026-07-28T08:21:00.440" v="35" actId="27636"/>
          <ac:spMkLst>
            <pc:docMk/>
            <pc:sldMk cId="0" sldId="266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1:00.438" v="34" actId="27636"/>
          <ac:spMkLst>
            <pc:docMk/>
            <pc:sldMk cId="0" sldId="266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21:00.451" v="37" actId="27636"/>
        <pc:sldMkLst>
          <pc:docMk/>
          <pc:sldMk cId="0" sldId="267"/>
        </pc:sldMkLst>
        <pc:spChg chg="mod">
          <ac:chgData name="Rodrigue YENGO" userId="9019d928-c12d-48de-bdb2-52a833805ac2" providerId="ADAL" clId="{20734E0D-FF75-44B1-9DFF-D19DBB4D069A}" dt="2026-07-28T08:21:00.448" v="36" actId="27636"/>
          <ac:spMkLst>
            <pc:docMk/>
            <pc:sldMk cId="0" sldId="267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1:00.451" v="37" actId="27636"/>
          <ac:spMkLst>
            <pc:docMk/>
            <pc:sldMk cId="0" sldId="267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21:00.460" v="39" actId="27636"/>
        <pc:sldMkLst>
          <pc:docMk/>
          <pc:sldMk cId="0" sldId="268"/>
        </pc:sldMkLst>
        <pc:spChg chg="mod">
          <ac:chgData name="Rodrigue YENGO" userId="9019d928-c12d-48de-bdb2-52a833805ac2" providerId="ADAL" clId="{20734E0D-FF75-44B1-9DFF-D19DBB4D069A}" dt="2026-07-28T08:21:00.459" v="38" actId="27636"/>
          <ac:spMkLst>
            <pc:docMk/>
            <pc:sldMk cId="0" sldId="268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1:00.460" v="39" actId="27636"/>
          <ac:spMkLst>
            <pc:docMk/>
            <pc:sldMk cId="0" sldId="268"/>
            <ac:spMk id="5" creationId="{00000000-0000-0000-0000-000000000000}"/>
          </ac:spMkLst>
        </pc:spChg>
      </pc:sldChg>
      <pc:sldMasterChg chg="modSldLayout">
        <pc:chgData name="Rodrigue YENGO" userId="9019d928-c12d-48de-bdb2-52a833805ac2" providerId="ADAL" clId="{20734E0D-FF75-44B1-9DFF-D19DBB4D069A}" dt="2026-07-28T08:29:10.058" v="40" actId="22"/>
        <pc:sldMasterMkLst>
          <pc:docMk/>
          <pc:sldMasterMk cId="0" sldId="2147483648"/>
        </pc:sldMasterMkLst>
        <pc:sldLayoutChg chg="addSp mod">
          <pc:chgData name="Rodrigue YENGO" userId="9019d928-c12d-48de-bdb2-52a833805ac2" providerId="ADAL" clId="{20734E0D-FF75-44B1-9DFF-D19DBB4D069A}" dt="2026-07-28T08:29:10.058" v="40" actId="22"/>
          <pc:sldLayoutMkLst>
            <pc:docMk/>
            <pc:sldMasterMk cId="0" sldId="2147483648"/>
            <pc:sldLayoutMk cId="0" sldId="2147483649"/>
          </pc:sldLayoutMkLst>
          <pc:picChg chg="add">
            <ac:chgData name="Rodrigue YENGO" userId="9019d928-c12d-48de-bdb2-52a833805ac2" providerId="ADAL" clId="{20734E0D-FF75-44B1-9DFF-D19DBB4D069A}" dt="2026-07-28T08:29:10.058" v="40" actId="22"/>
            <ac:picMkLst>
              <pc:docMk/>
              <pc:sldMasterMk cId="0" sldId="2147483648"/>
              <pc:sldLayoutMk cId="0" sldId="2147483649"/>
              <ac:picMk id="3" creationId="{2BDEBF14-34E5-5277-8040-5DEF388CE262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4721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Contenu composé à partir des vues d'insights de requêtes et des sujets sécurité déjà vus jour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Terminer la journée et le parcours sur l'optimisation des performances.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2BDEBF14-34E5-5277-8040-5DEF388CE2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516350" y="50800"/>
            <a:ext cx="1752600" cy="11684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445375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 3 · SESSION 3 · 13:00 – 14:45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85850" y="3688110"/>
            <a:ext cx="16540925" cy="1882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4174"/>
              </a:lnSpc>
              <a:buNone/>
            </a:pPr>
            <a:r>
              <a:rPr lang="en-US" sz="7500" kern="0" spc="-1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Identification &amp; Resolution — Partie 2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1143000" y="5836890"/>
            <a:ext cx="8912453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62"/>
              </a:lnSpc>
              <a:buNone/>
            </a:pPr>
            <a:r>
              <a:rPr lang="en-US" sz="27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Diagnostiquer les requêtes lentes et les erreurs d'autorisation dans un entrepôt de données Fabric.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143000" y="9296400"/>
            <a:ext cx="324507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AI France Study Group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264521" y="9296400"/>
            <a:ext cx="13662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4496395" y="9296400"/>
            <a:ext cx="589212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Days — Microsoft Fabric Data Engineer (DP-700)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248365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 3 · SESSION 3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 d'apprentissage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2019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Utiliser les vues d'informations de requête pour diagnostiquer une lenteur.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Résoudre les erreurs d'autorisation liées à RLS, CLS ou DDM.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Diagnostiquer les erreurs de connectivité aux sources de données.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Documenter et escalader un incident correctement.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212660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INSIGHTS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Vues d'informations de requête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1143000" y="3158877"/>
            <a:ext cx="14859000" cy="500063"/>
          </a:xfrm>
          <a:prstGeom prst="rect">
            <a:avLst/>
          </a:prstGeom>
          <a:gradFill rotWithShape="1">
            <a:gsLst>
              <a:gs pos="0">
                <a:srgbClr val="E6E6EC">
                  <a:alpha val="0"/>
                </a:srgbClr>
              </a:gs>
              <a:gs pos="50000">
                <a:srgbClr val="E6E6EC">
                  <a:alpha val="16000"/>
                </a:srgbClr>
              </a:gs>
              <a:gs pos="100000">
                <a:srgbClr val="E6E6EC">
                  <a:alpha val="16000"/>
                </a:srgbClr>
              </a:gs>
              <a:gs pos="100000">
                <a:srgbClr val="E6E6EC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143000" y="3649414"/>
            <a:ext cx="6408390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143000" y="3330327"/>
            <a:ext cx="6372042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132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7551390" y="3649414"/>
            <a:ext cx="8450610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7551390" y="3330327"/>
            <a:ext cx="8475528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132" dirty="0">
                <a:solidFill>
                  <a:srgbClr val="EAEAE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143000" y="3658939"/>
            <a:ext cx="14859000" cy="546497"/>
          </a:xfrm>
          <a:prstGeom prst="rect">
            <a:avLst/>
          </a:prstGeom>
          <a:gradFill rotWithShape="1">
            <a:gsLst>
              <a:gs pos="0">
                <a:srgbClr val="E6E6F2">
                  <a:alpha val="0"/>
                </a:srgbClr>
              </a:gs>
              <a:gs pos="50000">
                <a:srgbClr val="E6E6F2">
                  <a:alpha val="8000"/>
                </a:srgbClr>
              </a:gs>
              <a:gs pos="100000">
                <a:srgbClr val="E6E6F2">
                  <a:alpha val="8000"/>
                </a:srgbClr>
              </a:gs>
              <a:gs pos="100000">
                <a:srgbClr val="E6E6F2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1143000" y="4195911"/>
            <a:ext cx="6408390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1143000" y="3830389"/>
            <a:ext cx="6372042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queryinsights.exec_requests_history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7551390" y="4195911"/>
            <a:ext cx="8450610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7551390" y="3830389"/>
            <a:ext cx="8475528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Historique des requêtes SQL terminées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143000" y="4205436"/>
            <a:ext cx="14859000" cy="546497"/>
          </a:xfrm>
          <a:prstGeom prst="rect">
            <a:avLst/>
          </a:prstGeom>
          <a:gradFill rotWithShape="1">
            <a:gsLst>
              <a:gs pos="0">
                <a:srgbClr val="E6E6F2">
                  <a:alpha val="0"/>
                </a:srgbClr>
              </a:gs>
              <a:gs pos="50000">
                <a:srgbClr val="E6E6F2">
                  <a:alpha val="8000"/>
                </a:srgbClr>
              </a:gs>
              <a:gs pos="100000">
                <a:srgbClr val="E6E6F2">
                  <a:alpha val="8000"/>
                </a:srgbClr>
              </a:gs>
              <a:gs pos="100000">
                <a:srgbClr val="E6E6F2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1143000" y="4742408"/>
            <a:ext cx="6408390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1143000" y="4376886"/>
            <a:ext cx="6372042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queryinsights.long_running_queries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7551390" y="4742408"/>
            <a:ext cx="8450610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7551390" y="4376886"/>
            <a:ext cx="8475528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Temps d'exécution des requêtes les plus longues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143000" y="4751933"/>
            <a:ext cx="14859000" cy="546497"/>
          </a:xfrm>
          <a:prstGeom prst="rect">
            <a:avLst/>
          </a:prstGeom>
          <a:gradFill rotWithShape="1">
            <a:gsLst>
              <a:gs pos="0">
                <a:srgbClr val="E6E6F2">
                  <a:alpha val="0"/>
                </a:srgbClr>
              </a:gs>
              <a:gs pos="50000">
                <a:srgbClr val="E6E6F2">
                  <a:alpha val="8000"/>
                </a:srgbClr>
              </a:gs>
              <a:gs pos="100000">
                <a:srgbClr val="E6E6F2">
                  <a:alpha val="8000"/>
                </a:srgbClr>
              </a:gs>
              <a:gs pos="100000">
                <a:srgbClr val="E6E6F2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1143000" y="5288905"/>
            <a:ext cx="6408390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1143000" y="4923383"/>
            <a:ext cx="6372042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queryinsights.frequently_run_queries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7551390" y="5288905"/>
            <a:ext cx="8450610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7551390" y="4923383"/>
            <a:ext cx="8475528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Requêtes exécutées le plus fréquemment</a:t>
            </a:r>
            <a:endParaRPr lang="en-US" sz="210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212660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INSIGHTS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Identifier les requêtes longues et fréquentes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18523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Trier par durée d'exécution pour repérer les requêtes les plus coûteuses.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Croiser avec la fréquence d'exécution : une requête moyenne mais très fréquente peut peser plus qu'une requête rare et longue.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Prioriser l'optimisation sur les requêtes cumulant durée et fréquence élevées.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156556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Explorer une période avec le graphique du point de temps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18523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Visualise l'activité d'un entrepôt sur une plage horaire donnée.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Permet de corréler un pic de latence avec une exécution de pipeline ou un rapport Power BI.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de départ pour localiser précisément l'origine d'un ralentissement.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156556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Diagnostiquer une requête lente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3248918"/>
            <a:ext cx="838200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Ressources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3584079"/>
            <a:ext cx="7848600" cy="83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Vérifier la consommation de capacité et la contention avec d'autres charges concurrentes.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525000" y="3248918"/>
            <a:ext cx="838200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Conception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525000" y="3584079"/>
            <a:ext cx="7848600" cy="83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Revoir les index, les statistiques et la présence de jointures inutilement larges.</a:t>
            </a:r>
            <a:endParaRPr lang="en-US" sz="19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119866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Résoudre les erreurs d'autorisation courantes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22714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Accès refusé sur une table : vérifier les GRANT / DENY et les rôles d'espace de travail.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Valeurs masquées inattendues : vérifier les droits UNMASK liés au DDM.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Lignes manquantes en résultat : vérifier la fonction de prédicat RLS appliquée à l'utilisateur.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188398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CONNECTIVITÉ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Erreurs de connectivité aux sources de données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18523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Vérifier les informations d'identification et leur date d'expiration.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Vérifier les règles de pare-feu et la passerelle de données si la source est on-premises.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Confirmer la disponibilité du service source avant de suspecter Fabric.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114106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Escalader et documenter un incident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22714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Consigner le symptôme, la cause racine et la correction appliquée.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Escalader vers le support Microsoft si le problème dépasse la configuration côté client.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Mettre à jour la documentation d'exploitation pour accélérer une future occurrence.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98792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ATELIER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Exercice pratique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3248918"/>
            <a:ext cx="398145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25 minutes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43000" y="3764161"/>
            <a:ext cx="398145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En binôme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143000" y="4279404"/>
            <a:ext cx="3728085" cy="1189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Diagnostiquer un incident simulé sur un entrepôt de données.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198745" y="3248918"/>
            <a:ext cx="12022455" cy="2045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Interroger queryinsights.long_running_queries pour identifier une requête lente.</a:t>
            </a:r>
            <a:endParaRPr lang="en-US" sz="1950" dirty="0"/>
          </a:p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Analyser sa conception et proposer une optimisation.</a:t>
            </a:r>
            <a:endParaRPr lang="en-US" sz="1950" dirty="0"/>
          </a:p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Reproduire une erreur d'autorisation liée à RLS et la corriger.</a:t>
            </a:r>
            <a:endParaRPr lang="en-US" sz="1950" dirty="0"/>
          </a:p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Rédiger une fiche d'incident courte (symptôme, cause, correction).</a:t>
            </a:r>
            <a:endParaRPr lang="en-US" sz="1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63073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 des connaissances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2095649"/>
            <a:ext cx="1760220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54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 vue identifie les requêtes SQL les plus lentes dans un entrepôt Fabric 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43000" y="2739479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343025" y="2863304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queryinsights.frequently_run_queries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143000" y="3466207"/>
            <a:ext cx="16002000" cy="631478"/>
          </a:xfrm>
          <a:prstGeom prst="roundRect">
            <a:avLst>
              <a:gd name="adj" fmla="val 12067"/>
            </a:avLst>
          </a:prstGeom>
          <a:solidFill>
            <a:srgbClr val="2C2642">
              <a:alpha val="55000"/>
            </a:srgbClr>
          </a:solidFill>
          <a:ln w="9525">
            <a:solidFill>
              <a:srgbClr val="9184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343025" y="3590032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queryinsights.long_running_queries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143000" y="4192935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343025" y="4316760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sys.dm_exec_connections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143000" y="5494883"/>
            <a:ext cx="1760220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54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utilisateur ne voit pas certaines lignes attendues dans une table. Quelle est la cause la plus probable ?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143000" y="6138714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343025" y="6262539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commande VACUUM récente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143000" y="6865441"/>
            <a:ext cx="16002000" cy="631478"/>
          </a:xfrm>
          <a:prstGeom prst="roundRect">
            <a:avLst>
              <a:gd name="adj" fmla="val 12067"/>
            </a:avLst>
          </a:prstGeom>
          <a:solidFill>
            <a:srgbClr val="2C2642">
              <a:alpha val="55000"/>
            </a:srgbClr>
          </a:solidFill>
          <a:ln w="9525">
            <a:solidFill>
              <a:srgbClr val="9184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1343025" y="6989266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fonction de prédicat de sécurité au niveau ligne (RLS)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143000" y="7592169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1343025" y="7715994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erreur de partitionnement Delta</a:t>
            </a:r>
            <a:endParaRPr lang="en-US" sz="195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3550" y="9867900"/>
            <a:ext cx="61214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193571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RÉCAPITULATIF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nous avons vu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2019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vues Query Insights permettent d'isoler les requêtes lentes ou fréquentes.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erreurs d'autorisation se résolvent en revérifiant GRANT, DDM et RLS.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erreurs de connectivité concernent souvent identifiants et pare-feu.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Documenter chaque incident accélère la résolution des suivants.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3550" y="9867900"/>
            <a:ext cx="61214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62A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353A80">
                  <a:alpha val="70000"/>
                </a:srgbClr>
              </a:gs>
              <a:gs pos="64000">
                <a:srgbClr val="353A80">
                  <a:alpha val="0"/>
                </a:srgbClr>
              </a:gs>
            </a:gsLst>
            <a:path path="circle">
              <a:fillToRect l="22000" t="42000" r="78000" b="58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4056162"/>
            <a:ext cx="2638693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PROCHAINE SESSION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4723805"/>
            <a:ext cx="7385492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Optimization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5468689"/>
            <a:ext cx="8912453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62"/>
              </a:lnSpc>
              <a:buNone/>
            </a:pPr>
            <a:r>
              <a:rPr lang="en-US" sz="27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OptimizeWrite, Optimize, V-Order et Vacuum pour des tables Delta performantes.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3363a87-7e43-46da-9332-4c6d176b06e4" xsi:nil="true"/>
    <lcf76f155ced4ddcb4097134ff3c332f xmlns="d9df9240-fc95-4deb-9c9d-de700c44a7a7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85964E25350F4FB3FE643AE11B2B20" ma:contentTypeVersion="10" ma:contentTypeDescription="Create a new document." ma:contentTypeScope="" ma:versionID="1e1d1b9c64e4e863bf8aa3867e361155">
  <xsd:schema xmlns:xsd="http://www.w3.org/2001/XMLSchema" xmlns:xs="http://www.w3.org/2001/XMLSchema" xmlns:p="http://schemas.microsoft.com/office/2006/metadata/properties" xmlns:ns2="d9df9240-fc95-4deb-9c9d-de700c44a7a7" xmlns:ns3="33363a87-7e43-46da-9332-4c6d176b06e4" targetNamespace="http://schemas.microsoft.com/office/2006/metadata/properties" ma:root="true" ma:fieldsID="6f44e94be1ec4ee84c894018ce3c7098" ns2:_="" ns3:_="">
    <xsd:import namespace="d9df9240-fc95-4deb-9c9d-de700c44a7a7"/>
    <xsd:import namespace="33363a87-7e43-46da-9332-4c6d176b06e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df9240-fc95-4deb-9c9d-de700c44a7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4ef1542d-73bf-4483-a10a-dd7f0542ff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363a87-7e43-46da-9332-4c6d176b06e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3c4884d-0209-46c7-838c-3dc439699bfd}" ma:internalName="TaxCatchAll" ma:showField="CatchAllData" ma:web="33363a87-7e43-46da-9332-4c6d176b06e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BC37DB7-4C32-4894-818D-E652072478E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9818B12-DF3F-4385-AB1F-DF9AADE1E7C3}">
  <ds:schemaRefs>
    <ds:schemaRef ds:uri="http://purl.org/dc/dcmitype/"/>
    <ds:schemaRef ds:uri="http://schemas.openxmlformats.org/package/2006/metadata/core-properties"/>
    <ds:schemaRef ds:uri="http://purl.org/dc/terms/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33363a87-7e43-46da-9332-4c6d176b06e4"/>
    <ds:schemaRef ds:uri="d9df9240-fc95-4deb-9c9d-de700c44a7a7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8A4097F7-9E64-4949-9BCA-05CC9644360E}"/>
</file>

<file path=docMetadata/LabelInfo.xml><?xml version="1.0" encoding="utf-8"?>
<clbl:labelList xmlns:clbl="http://schemas.microsoft.com/office/2020/mipLabelMetadata">
  <clbl:label id="{defa4170-0d19-0005-0004-bc88714345d2}" enabled="1" method="Standard" siteId="{ffe9cb1d-3ae5-460e-857d-cc6afe98ae6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668</Words>
  <Application>Microsoft Office PowerPoint</Application>
  <PresentationFormat>Personnalisé</PresentationFormat>
  <Paragraphs>96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Error Identification &amp; Resolution — Partie 2</dc:title>
  <dc:subject>PptxGenJS Presentation</dc:subject>
  <dc:creator/>
  <cp:lastModifiedBy>Rodrigue YENGO</cp:lastModifiedBy>
  <cp:revision>1</cp:revision>
  <dcterms:created xsi:type="dcterms:W3CDTF">2026-07-28T08:03:29Z</dcterms:created>
  <dcterms:modified xsi:type="dcterms:W3CDTF">2026-07-28T08:29:19Z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0x0101000085964E25350F4FB3FE643AE11B2B20</vt:lpwstr>
  </property>
  <property fmtid="{D5CDD505-2E9C-101B-9397-08002B2CF9AE}" pid="3" name="MediaServiceImageTags">
    <vt:lpwstr/>
  </property>
</Properties>
</file>